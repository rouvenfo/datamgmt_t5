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2" r:id="rId6"/>
    <p:sldId id="266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8" autoAdjust="0"/>
    <p:restoredTop sz="94610"/>
  </p:normalViewPr>
  <p:slideViewPr>
    <p:cSldViewPr snapToGrid="0" snapToObjects="1">
      <p:cViewPr>
        <p:scale>
          <a:sx n="113" d="100"/>
          <a:sy n="113" d="100"/>
        </p:scale>
        <p:origin x="22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39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Begrüssung und kurzer Kontext. Diese Präsentation zeigt, wie SQL Island um Anti-JOINs erweitert werden kann. Kernidee: Lernende sollen nicht nur vorhandene Daten finden, sondern auch fehlende Beziehungen erkennen.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Anti-JOINs sind wichtig, weil reale Fragen häufig nach Abwesenheit fragen. Beispiele: unassigned resources, missing references, data quality checks. Genau diese Denkweise fehlt in vielen Einführungen, weil SQL dafür kein eigenes ANTI JOIN Keyword 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formale Definition lässt sich auf eine simple Intuition reduzieren: Wir starten links bei R und behalten nur jene R-Zeilen, für die rechts in S kein passender Datensatz existiert.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erste Pattern ist gut für Einsteiger, weil man den Mechanismus gut erklären kann. Der LEFT JOIN erzeugt Nulls auf der rechten Seite; der NULL-Filter macht daraus eine Anti-JOIN-Abfrage.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EXISTS ist etwas abstrakter als LEFT JOIN, aber sehr robust. Für Lernende ist es ein Übergang zu korrelierten Subqueries und damit ein guter nächster Lernschritt.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2E114-1608-CF3E-81D9-2FB558C1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82D29-FA84-DF09-D4BA-EED1298EB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33A23-28B9-67DC-D8C1-45131C9EE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EXISTS ist etwas abstrakter als LEFT JOIN, aber sehr robust. Für Lernende ist es ein Übergang zu korrelierten Subqueries und damit ein guter nächster Lernschritt.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3E075-355E-1E1E-2F91-0AC990850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95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zeigt den wichtigsten Fallstrick. NOT IN wirkt elegant, ist aber durch SQLs Dreiwertlogik bei NULL-Werten problematisch. Im Spiel kann man dies später als Bonus- oder Fehler-Mission einbauen.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Abschluss die wichtigsten Aussagen zusammenfassen. Danach kann man Fragen aufnehmen oder direkt die nächsten Projektschritte diskutieren.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3165179" y="2437118"/>
            <a:ext cx="5861336" cy="117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Anti-JOINs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731520" y="604780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CA"/>
                </a:solidFill>
              </a:rPr>
              <a:t>Term Project SPR26 · Data Management · Group T5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402E7C-212A-5AB1-37B8-F6E7830071F5}"/>
              </a:ext>
            </a:extLst>
          </p:cNvPr>
          <p:cNvSpPr/>
          <p:nvPr/>
        </p:nvSpPr>
        <p:spPr>
          <a:xfrm>
            <a:off x="731520" y="63550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12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Emanuel Foster, Nathan Massicot, </a:t>
            </a:r>
            <a:r>
              <a:rPr lang="de-CH" sz="12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Jahnavi</a:t>
            </a:r>
            <a:r>
              <a:rPr lang="de-CH" sz="12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CH" sz="12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Patil</a:t>
            </a:r>
            <a:r>
              <a:rPr lang="de-CH" sz="12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Nils Wildhaber, Leandra Willi</a:t>
            </a: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Anti-JOINs?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r>
              <a:rPr lang="en-US" sz="24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databases, the interesting question is often not what exists, but what is missing.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Unassigned resources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68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items have no owner?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2402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entries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68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residents are not on a list?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2402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83667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68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records have no matching reference?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3B2"/>
                </a:solidFill>
              </a:rPr>
              <a:t>Anti-JOINs ·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</a:rPr>
              <a:t>Concept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 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006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 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2926080" cy="2926080"/>
          </a:xfrm>
          <a:prstGeom prst="ellipse">
            <a:avLst/>
          </a:prstGeom>
          <a:solidFill>
            <a:srgbClr val="2E7CF6">
              <a:alpha val="28000"/>
            </a:srgbClr>
          </a:solidFill>
          <a:ln w="25400">
            <a:solidFill>
              <a:srgbClr val="2E7CF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2926080" cy="2926080"/>
          </a:xfrm>
          <a:prstGeom prst="ellipse">
            <a:avLst/>
          </a:prstGeom>
          <a:solidFill>
            <a:srgbClr val="7AC943">
              <a:alpha val="28000"/>
            </a:srgbClr>
          </a:solidFill>
          <a:ln w="25400">
            <a:solidFill>
              <a:srgbClr val="7AC94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1234440" y="2834640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1307592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match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3246120"/>
            <a:ext cx="1005840" cy="0"/>
          </a:xfrm>
          <a:prstGeom prst="line">
            <a:avLst/>
          </a:prstGeom>
          <a:noFill/>
          <a:ln w="38100">
            <a:solidFill>
              <a:srgbClr val="13233A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9189720" y="242316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2E7CF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9400032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418320" y="3246120"/>
            <a:ext cx="1600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/>
            <a:r>
              <a:rPr lang="en-US" sz="1300" dirty="0">
                <a:solidFill>
                  <a:srgbClr val="68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rows without a matching S row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2578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1069848" y="5422392"/>
            <a:ext cx="102047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 ▷ S = { r ∈ R | there is no matching s ∈ S 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1: LEFT JOIN … IS NULL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78408" y="1581912"/>
            <a:ext cx="485546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r.*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LEFT JOIN 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 s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ON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s.key = r.key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s.key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IS NULL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3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9225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LEFT JOIN keeps all rows from R.</a:t>
            </a:r>
            <a:endParaRPr lang="en-US" dirty="0"/>
          </a:p>
          <a:p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Non-matching S rows are filled with NULL.</a:t>
            </a:r>
            <a:endParaRPr lang="en-US" dirty="0"/>
          </a:p>
          <a:p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WHERE </a:t>
            </a:r>
            <a:r>
              <a:rPr lang="en-US" dirty="0" err="1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s.key</a:t>
            </a:r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NULL filters exactly these non-matches.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2: NOT EXISTS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78408" y="1581912"/>
            <a:ext cx="485546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r.*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 EXISTS 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s.key = r.key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45262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EXISTS checks whether a matching row exists in another table.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match is found, the row is included in the result.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E2FBB-85FC-025D-BBA3-65F00FD7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7D9F182-278A-1836-6209-16FA23AB603E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8FB9FA-3BB7-CD5B-1362-9F472B7F58E1}"/>
              </a:ext>
            </a:extLst>
          </p:cNvPr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3: NOT IN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B3F6B9-E9F1-EADD-FDD6-713C12C76A3C}"/>
              </a:ext>
            </a:extLst>
          </p:cNvPr>
          <p:cNvSpPr/>
          <p:nvPr/>
        </p:nvSpPr>
        <p:spPr>
          <a:xfrm>
            <a:off x="777240" y="141732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E70B85-A7C2-2CC1-6BB4-221B3D7FB1B7}"/>
              </a:ext>
            </a:extLst>
          </p:cNvPr>
          <p:cNvSpPr/>
          <p:nvPr/>
        </p:nvSpPr>
        <p:spPr>
          <a:xfrm>
            <a:off x="978408" y="1581912"/>
            <a:ext cx="485546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r.*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 err="1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r.key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 IN 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 err="1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s.key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 </a:t>
            </a:r>
            <a:r>
              <a:rPr lang="en-US" sz="1400" dirty="0" err="1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473CE5D-FBE9-7ADE-9848-0450CC834805}"/>
              </a:ext>
            </a:extLst>
          </p:cNvPr>
          <p:cNvSpPr/>
          <p:nvPr/>
        </p:nvSpPr>
        <p:spPr>
          <a:xfrm>
            <a:off x="6492240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works:</a:t>
            </a:r>
            <a:endParaRPr lang="en-US" sz="2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9F54DA-0FDA-D91B-D57C-518F6E4E011A}"/>
              </a:ext>
            </a:extLst>
          </p:cNvPr>
          <p:cNvSpPr/>
          <p:nvPr/>
        </p:nvSpPr>
        <p:spPr>
          <a:xfrm>
            <a:off x="6492240" y="1965960"/>
            <a:ext cx="45262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dirty="0"/>
              <a:t>NOT IN checks values against another result set.</a:t>
            </a:r>
          </a:p>
          <a:p>
            <a:pPr marL="342900" indent="-342900">
              <a:buAutoNum type="arabicPeriod"/>
            </a:pPr>
            <a:r>
              <a:rPr lang="en-US" dirty="0"/>
              <a:t>Rows with matching values are excluded.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E98074-C220-10A9-E4BE-1184914F43E9}"/>
              </a:ext>
            </a:extLst>
          </p:cNvPr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5</a:t>
            </a:r>
          </a:p>
        </p:txBody>
      </p:sp>
    </p:spTree>
    <p:extLst>
      <p:ext uri="{BB962C8B-B14F-4D97-AF65-F5344CB8AC3E}">
        <p14:creationId xmlns:p14="http://schemas.microsoft.com/office/powerpoint/2010/main" val="3112723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Caution: NOT IN and NULL values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78408" y="1444752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 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 key NOT IN (SELECT key FROM S);</a:t>
            </a:r>
            <a:endParaRPr lang="en-US" sz="1400" dirty="0"/>
          </a:p>
        </p:txBody>
      </p:sp>
      <p:pic>
        <p:nvPicPr>
          <p:cNvPr id="8" name="Image 0" descr="/mnt/data/anti_join_perf.png"/>
          <p:cNvPicPr>
            <a:picLocks noChangeAspect="1"/>
          </p:cNvPicPr>
          <p:nvPr/>
        </p:nvPicPr>
        <p:blipFill>
          <a:blip r:embed="rId3"/>
          <a:srcRect t="1293" b="1294"/>
          <a:stretch/>
        </p:blipFill>
        <p:spPr>
          <a:xfrm>
            <a:off x="6035040" y="1417320"/>
            <a:ext cx="5394960" cy="1783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474720"/>
            <a:ext cx="4754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000" b="1" dirty="0">
                <a:solidFill>
                  <a:srgbClr val="C9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IN is short, but risky: if the subquery contains NULL, the result can unexpectedly become empty.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6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E6A70BD-BF38-A847-319E-A50F34CE9528}"/>
              </a:ext>
            </a:extLst>
          </p:cNvPr>
          <p:cNvSpPr txBox="1"/>
          <p:nvPr/>
        </p:nvSpPr>
        <p:spPr>
          <a:xfrm>
            <a:off x="6035040" y="3240542"/>
            <a:ext cx="61044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100" dirty="0">
                <a:solidFill>
                  <a:schemeClr val="bg1">
                    <a:lumMod val="50000"/>
                  </a:schemeClr>
                </a:solidFill>
              </a:rPr>
              <a:t>https://md.coredump.ch/uploads/c670be59-068a-468f-a98a-39e6125def89.png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25196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CF6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7</a:t>
            </a:r>
          </a:p>
        </p:txBody>
      </p:sp>
      <p:pic>
        <p:nvPicPr>
          <p:cNvPr id="18" name="Grafik 17" descr="Ein Bild, das Text, Screenshot, Schrift, Logo enthält.&#10;&#10;KI-generierte Inhalte können fehlerhaft sein.">
            <a:extLst>
              <a:ext uri="{FF2B5EF4-FFF2-40B4-BE49-F238E27FC236}">
                <a16:creationId xmlns:a16="http://schemas.microsoft.com/office/drawing/2014/main" id="{3F122BC5-FDAA-42B2-9F71-0DD365287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69" t="9600" r="26029" b="13580"/>
          <a:stretch>
            <a:fillRect/>
          </a:stretch>
        </p:blipFill>
        <p:spPr>
          <a:xfrm>
            <a:off x="2997199" y="658368"/>
            <a:ext cx="6019801" cy="5268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TM04033923[[fn=Tiefe]]</Template>
  <TotalTime>0</TotalTime>
  <Words>620</Words>
  <Application>Microsoft Office PowerPoint</Application>
  <PresentationFormat>Breitbild</PresentationFormat>
  <Paragraphs>78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Cascadia Mono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Group T5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Island Evolved</dc:title>
  <dc:subject>SQL Island Evolved: Anti-JOINs through Play</dc:subject>
  <dc:creator>OpenAI</dc:creator>
  <cp:lastModifiedBy>Foster Emanuel I.MSCE_T_H25.2501</cp:lastModifiedBy>
  <cp:revision>14</cp:revision>
  <dcterms:created xsi:type="dcterms:W3CDTF">2026-05-19T11:12:57Z</dcterms:created>
  <dcterms:modified xsi:type="dcterms:W3CDTF">2026-05-19T11:50:37Z</dcterms:modified>
</cp:coreProperties>
</file>