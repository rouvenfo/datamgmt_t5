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0" r:id="rId4"/>
    <p:sldId id="261" r:id="rId5"/>
    <p:sldId id="262" r:id="rId6"/>
    <p:sldId id="266" r:id="rId7"/>
    <p:sldId id="263" r:id="rId8"/>
    <p:sldId id="267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8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8" autoAdjust="0"/>
    <p:restoredTop sz="80324" autoAdjust="0"/>
  </p:normalViewPr>
  <p:slideViewPr>
    <p:cSldViewPr snapToGrid="0" snapToObjects="1">
      <p:cViewPr varScale="1">
        <p:scale>
          <a:sx n="77" d="100"/>
          <a:sy n="77" d="100"/>
        </p:scale>
        <p:origin x="660" y="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6398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Begrüssung und kurzer Kontext. Diese Präsentation zeigt, wie SQL Island um Anti-JOINs erweitert werden kann. Kernidee: Lernende sollen nicht nur vorhandene Daten finden, sondern auch fehlende Beziehungen erkennen.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 err="1"/>
              <a:t>resource</a:t>
            </a:r>
            <a:r>
              <a:rPr lang="de-CH" dirty="0"/>
              <a:t> </a:t>
            </a:r>
            <a:r>
              <a:rPr lang="de-CH" dirty="0" err="1"/>
              <a:t>management</a:t>
            </a:r>
            <a:endParaRPr lang="en-US" dirty="0"/>
          </a:p>
          <a:p>
            <a:r>
              <a:rPr lang="de-CH" dirty="0"/>
              <a:t>Administration</a:t>
            </a:r>
          </a:p>
          <a:p>
            <a:r>
              <a:rPr lang="de-CH" dirty="0" err="1"/>
              <a:t>data</a:t>
            </a:r>
            <a:r>
              <a:rPr lang="de-CH" dirty="0"/>
              <a:t> </a:t>
            </a:r>
            <a:r>
              <a:rPr lang="de-CH" dirty="0" err="1"/>
              <a:t>quality</a:t>
            </a:r>
            <a:r>
              <a:rPr lang="de-CH" dirty="0"/>
              <a:t> </a:t>
            </a:r>
            <a:r>
              <a:rPr lang="de-CH" dirty="0" err="1"/>
              <a:t>management</a:t>
            </a:r>
            <a:r>
              <a:rPr lang="de-CH" dirty="0"/>
              <a:t>,</a:t>
            </a:r>
          </a:p>
          <a:p>
            <a:r>
              <a:rPr lang="en-US" dirty="0"/>
              <a:t>how SQL handles missing relationships and absence of data.</a:t>
            </a:r>
            <a:endParaRPr lang="de-CH" dirty="0"/>
          </a:p>
          <a:p>
            <a:endParaRPr lang="de-CH" dirty="0"/>
          </a:p>
          <a:p>
            <a:r>
              <a:rPr lang="en-US" dirty="0"/>
              <a:t>However, Anti-JOINs are often difficult for beginners because SQL does not provide a direct keyword called “ANTI JOIN”.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Anti-JOINs sind wichtig, weil reale Fragen häufig nach Abwesenheit fragen. Beispiele: unassigned resources, missing references, data quality checks. Genau diese Denkweise fehlt in vielen Einführungen, weil SQL dafür kein eigenes ANTI JOIN Keyword 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row from R has no match in S, it becomes part of the result.</a:t>
            </a:r>
          </a:p>
          <a:p>
            <a:endParaRPr lang="en-US" dirty="0"/>
          </a:p>
          <a:p>
            <a:r>
              <a:rPr lang="en-US" dirty="0"/>
              <a:t>Conceptually, you can think of an Anti-JOIN as the opposite of a normal JOIN.</a:t>
            </a:r>
          </a:p>
          <a:p>
            <a:endParaRPr lang="en-US" dirty="0"/>
          </a:p>
          <a:p>
            <a:r>
              <a:rPr lang="en-US" dirty="0"/>
              <a:t>A normal JOIN searches for matches.</a:t>
            </a:r>
            <a:br>
              <a:rPr lang="en-US" dirty="0"/>
            </a:br>
            <a:r>
              <a:rPr lang="en-US" dirty="0"/>
              <a:t>An Anti-JOIN searches for non-matches.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Beginner friendly and easy to understand </a:t>
            </a:r>
          </a:p>
          <a:p>
            <a:endParaRPr lang="en-US" dirty="0"/>
          </a:p>
          <a:p>
            <a:r>
              <a:rPr lang="en-US" dirty="0"/>
              <a:t>A LEFT JOIN always keeps every row from the left table, even if no match exists on the right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pattern is slightly more abstract, but also very powerful and reliable.</a:t>
            </a:r>
          </a:p>
          <a:p>
            <a:endParaRPr lang="en-US" dirty="0"/>
          </a:p>
          <a:p>
            <a:r>
              <a:rPr lang="en-US" dirty="0"/>
              <a:t>we iterate through rows in R and check</a:t>
            </a:r>
          </a:p>
          <a:p>
            <a:endParaRPr lang="en-US" dirty="0"/>
          </a:p>
          <a:p>
            <a:r>
              <a:rPr lang="en-US" dirty="0"/>
              <a:t>If no matching row exists it is included</a:t>
            </a:r>
          </a:p>
          <a:p>
            <a:endParaRPr lang="en-US" dirty="0"/>
          </a:p>
          <a:p>
            <a:r>
              <a:rPr lang="en-US" dirty="0"/>
              <a:t>It is also widely used in professional SQL development because database optimizers usually process it very efficiently.</a:t>
            </a:r>
          </a:p>
          <a:p>
            <a:endParaRPr lang="en-US" dirty="0"/>
          </a:p>
          <a:p>
            <a:r>
              <a:rPr lang="en-US" dirty="0"/>
              <a:t>Intermediate result is slower for left join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2E114-1608-CF3E-81D9-2FB558C1B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382D29-FA84-DF09-D4BA-EED1298EB4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233A23-28B9-67DC-D8C1-45131C9EE2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latinLnBrk="0" hangingPunct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syntax is shorter and often easier to read at first glance.</a:t>
            </a:r>
            <a:endParaRPr lang="de-CH" dirty="0">
              <a:effectLst/>
            </a:endParaRPr>
          </a:p>
          <a:p>
            <a:pPr rtl="0" eaLnBrk="1" latinLnBrk="0" hangingPunct="1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latinLnBrk="0" hangingPunct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a value from R is not inside that list, it is returned.</a:t>
            </a:r>
            <a:endParaRPr lang="de-CH" dirty="0">
              <a:effectLst/>
            </a:endParaRPr>
          </a:p>
          <a:p>
            <a:pPr rtl="0" eaLnBrk="1" latinLnBrk="0" hangingPunct="1"/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eaLnBrk="1" latinLnBrk="0" hangingPunct="1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Conceptually, this seems very straightforward. Similar to not exist but crucial difference</a:t>
            </a:r>
            <a:endParaRPr lang="de-CH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3E075-355E-1E1E-2F91-0AC990850C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695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why it works on the other two:</a:t>
            </a:r>
          </a:p>
          <a:p>
            <a:endParaRPr lang="en-US" dirty="0"/>
          </a:p>
          <a:p>
            <a:r>
              <a:rPr lang="en-US" dirty="0"/>
              <a:t>left joins: the conditional where clause looks for null values</a:t>
            </a:r>
          </a:p>
          <a:p>
            <a:endParaRPr lang="en-US" dirty="0"/>
          </a:p>
          <a:p>
            <a:r>
              <a:rPr lang="en-US" dirty="0"/>
              <a:t>Not exists: checks whether a matching row exists.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NOT IN behaves differently when NULL values appear in the subquery.</a:t>
            </a:r>
          </a:p>
          <a:p>
            <a:endParaRPr lang="en-US" dirty="0"/>
          </a:p>
          <a:p>
            <a:r>
              <a:rPr lang="en-US" dirty="0"/>
              <a:t>Due to SQL logic rules, the comparison becomes UNKNOWN instead of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2005B-1462-F92F-EEFB-8D141DB39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ED24B5-A849-28C6-AEC5-D4376DEC26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2C4260-1EF4-5513-0E2C-84CD781706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NOT IN behaves differently when NULL values appear in the subquery.</a:t>
            </a:r>
          </a:p>
          <a:p>
            <a:endParaRPr lang="en-US" dirty="0"/>
          </a:p>
          <a:p>
            <a:r>
              <a:rPr lang="en-US" dirty="0"/>
              <a:t>Due to SQL logic rules, the comparison becomes UNKNOWN instead of TRUE.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9074C8-4313-1191-3276-C7A9B738E9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1104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Zum Abschluss die wichtigsten Aussagen zusammenfassen. Danach kann man Fragen aufnehmen oder direkt die nächsten Projektschritte diskutieren.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b-fiddle.com/f/eNZ3EYtbZTibJ1X7uwXzS4/0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33A"/>
          </a:solidFill>
          <a:ln w="12700">
            <a:solidFill>
              <a:srgbClr val="1323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3165179" y="2437118"/>
            <a:ext cx="5861336" cy="117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Anti-JOINs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731520" y="604780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EB9CA"/>
                </a:solidFill>
              </a:rPr>
              <a:t>Term Project SPR26 · Data Management · Group T5</a:t>
            </a:r>
            <a:endParaRPr lang="en-US" sz="16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402E7C-212A-5AB1-37B8-F6E7830071F5}"/>
              </a:ext>
            </a:extLst>
          </p:cNvPr>
          <p:cNvSpPr/>
          <p:nvPr/>
        </p:nvSpPr>
        <p:spPr>
          <a:xfrm>
            <a:off x="731520" y="635508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CH" sz="1200" i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Emanuel Foster, Nathan Massicot, </a:t>
            </a:r>
            <a:r>
              <a:rPr lang="de-CH" sz="1200" i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Jahnavi</a:t>
            </a:r>
            <a:r>
              <a:rPr lang="de-CH" sz="1200" i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de-CH" sz="1200" i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Patil</a:t>
            </a:r>
            <a:r>
              <a:rPr lang="de-CH" sz="1200" i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, Nils Wildhaber, Leandra Willi</a:t>
            </a:r>
            <a:endParaRPr lang="en-US" sz="12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CF6"/>
          </a:solidFill>
          <a:ln w="12700">
            <a:solidFill>
              <a:srgbClr val="2E7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3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Anti-JOINs?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77724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85000" lnSpcReduction="20000"/>
          </a:bodyPr>
          <a:lstStyle/>
          <a:p>
            <a:r>
              <a:rPr lang="en-US" sz="24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databases, the interesting question is often not what exists, but what is missing.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2734265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8" name="Text 6"/>
          <p:cNvSpPr/>
          <p:nvPr/>
        </p:nvSpPr>
        <p:spPr>
          <a:xfrm>
            <a:off x="960120" y="2917145"/>
            <a:ext cx="29260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7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Unassigned resources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3328625"/>
            <a:ext cx="292608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400" dirty="0">
                <a:solidFill>
                  <a:srgbClr val="68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items have no owner?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34840" y="2734265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4663440" y="2917145"/>
            <a:ext cx="29260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7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entries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63440" y="3328625"/>
            <a:ext cx="292608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400" dirty="0">
                <a:solidFill>
                  <a:srgbClr val="68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residents are not on a list?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2734265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8366760" y="2917145"/>
            <a:ext cx="29260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7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quality</a:t>
            </a:r>
            <a:endParaRPr lang="en-US" sz="1700" dirty="0"/>
          </a:p>
          <a:p>
            <a:pPr marL="0" indent="0" algn="l">
              <a:buNone/>
            </a:pP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66760" y="3328625"/>
            <a:ext cx="292608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400" dirty="0">
                <a:solidFill>
                  <a:srgbClr val="68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records have no matching reference?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AA3B2"/>
                </a:solidFill>
              </a:rPr>
              <a:t>Anti-JOINs · 1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AD7F7F1-EE4D-56E2-B455-97F6E13FA0BD}"/>
              </a:ext>
            </a:extLst>
          </p:cNvPr>
          <p:cNvCxnSpPr/>
          <p:nvPr/>
        </p:nvCxnSpPr>
        <p:spPr>
          <a:xfrm>
            <a:off x="731520" y="5496910"/>
            <a:ext cx="228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9C8F3BB-FF01-C221-FCB9-FD7ED116923E}"/>
              </a:ext>
            </a:extLst>
          </p:cNvPr>
          <p:cNvSpPr txBox="1"/>
          <p:nvPr/>
        </p:nvSpPr>
        <p:spPr>
          <a:xfrm>
            <a:off x="1040523" y="5318237"/>
            <a:ext cx="4503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find and process missing data</a:t>
            </a:r>
            <a:endParaRPr lang="en-CH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510" y="-338328"/>
            <a:ext cx="12191695" cy="685800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CF6"/>
          </a:solidFill>
          <a:ln w="12700">
            <a:solidFill>
              <a:srgbClr val="2E7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000" b="1" dirty="0">
                <a:solidFill>
                  <a:srgbClr val="13233A"/>
                </a:solidFill>
                <a:latin typeface="Aptos Display" pitchFamily="34" charset="0"/>
              </a:rPr>
              <a:t>Concept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3444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 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47791" y="1422699"/>
            <a:ext cx="18288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 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499616" y="1828800"/>
            <a:ext cx="2926080" cy="2926080"/>
          </a:xfrm>
          <a:prstGeom prst="ellipse">
            <a:avLst/>
          </a:prstGeom>
          <a:solidFill>
            <a:srgbClr val="2E7CF6">
              <a:alpha val="28000"/>
            </a:srgbClr>
          </a:solidFill>
          <a:ln w="25400">
            <a:solidFill>
              <a:srgbClr val="2E7CF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Shape 7"/>
          <p:cNvSpPr/>
          <p:nvPr/>
        </p:nvSpPr>
        <p:spPr>
          <a:xfrm>
            <a:off x="3122676" y="1828800"/>
            <a:ext cx="2926080" cy="2926080"/>
          </a:xfrm>
          <a:prstGeom prst="ellipse">
            <a:avLst/>
          </a:prstGeom>
          <a:solidFill>
            <a:srgbClr val="7AC943">
              <a:alpha val="28000"/>
            </a:srgbClr>
          </a:solidFill>
          <a:ln w="25400">
            <a:solidFill>
              <a:srgbClr val="7AC943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10" name="Shape 8"/>
          <p:cNvSpPr/>
          <p:nvPr/>
        </p:nvSpPr>
        <p:spPr>
          <a:xfrm>
            <a:off x="1924812" y="2834640"/>
            <a:ext cx="1097280" cy="457200"/>
          </a:xfrm>
          <a:prstGeom prst="roundRect">
            <a:avLst>
              <a:gd name="adj" fmla="val 8000"/>
            </a:avLst>
          </a:prstGeom>
          <a:solidFill>
            <a:srgbClr val="2E7CF6"/>
          </a:solidFill>
          <a:ln w="12700">
            <a:solidFill>
              <a:srgbClr val="2E7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9"/>
          <p:cNvSpPr/>
          <p:nvPr/>
        </p:nvSpPr>
        <p:spPr>
          <a:xfrm>
            <a:off x="2016252" y="2944368"/>
            <a:ext cx="91440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match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52360" y="3250692"/>
            <a:ext cx="1005840" cy="0"/>
          </a:xfrm>
          <a:prstGeom prst="line">
            <a:avLst/>
          </a:prstGeom>
          <a:noFill/>
          <a:ln w="38100">
            <a:solidFill>
              <a:srgbClr val="13233A"/>
            </a:solidFill>
            <a:prstDash val="solid"/>
            <a:tailEnd type="triangle"/>
          </a:ln>
        </p:spPr>
        <p:txBody>
          <a:bodyPr/>
          <a:lstStyle/>
          <a:p>
            <a:endParaRPr lang="de-CH" dirty="0"/>
          </a:p>
        </p:txBody>
      </p:sp>
      <p:sp>
        <p:nvSpPr>
          <p:cNvPr id="14" name="Text 12"/>
          <p:cNvSpPr/>
          <p:nvPr/>
        </p:nvSpPr>
        <p:spPr>
          <a:xfrm>
            <a:off x="9311640" y="1417320"/>
            <a:ext cx="16459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427208" y="1323186"/>
            <a:ext cx="160020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/>
            <a:r>
              <a:rPr lang="en-US" sz="1300" dirty="0">
                <a:solidFill>
                  <a:srgbClr val="6871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rows without a matching S row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5257800"/>
            <a:ext cx="10607040" cy="777240"/>
          </a:xfrm>
          <a:prstGeom prst="roundRect">
            <a:avLst>
              <a:gd name="adj" fmla="val 9412"/>
            </a:avLst>
          </a:prstGeom>
          <a:solidFill>
            <a:srgbClr val="0E1726"/>
          </a:solidFill>
          <a:ln w="12700">
            <a:solidFill>
              <a:srgbClr val="0E17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1069848" y="5422392"/>
            <a:ext cx="102047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 ▷ S = { r ∈ R | there is no matching s ∈ S }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dirty="0">
                <a:solidFill>
                  <a:srgbClr val="9AA3B2"/>
                </a:solidFill>
              </a:rPr>
              <a:t>Anti-JOINs · 2</a:t>
            </a:r>
          </a:p>
        </p:txBody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F52EDCC4-00F3-7120-782A-44C241F72F7A}"/>
              </a:ext>
            </a:extLst>
          </p:cNvPr>
          <p:cNvSpPr/>
          <p:nvPr/>
        </p:nvSpPr>
        <p:spPr>
          <a:xfrm>
            <a:off x="9084259" y="1828800"/>
            <a:ext cx="2926080" cy="2926080"/>
          </a:xfrm>
          <a:prstGeom prst="ellipse">
            <a:avLst/>
          </a:prstGeom>
          <a:solidFill>
            <a:srgbClr val="2E7CF6">
              <a:alpha val="28000"/>
            </a:srgbClr>
          </a:solidFill>
          <a:ln w="25400">
            <a:solidFill>
              <a:srgbClr val="2E7CF6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2074A4B8-B821-E4E3-18C4-304D0E499942}"/>
              </a:ext>
            </a:extLst>
          </p:cNvPr>
          <p:cNvSpPr/>
          <p:nvPr/>
        </p:nvSpPr>
        <p:spPr>
          <a:xfrm>
            <a:off x="10690321" y="1828800"/>
            <a:ext cx="2926080" cy="2926080"/>
          </a:xfrm>
          <a:prstGeom prst="ellipse">
            <a:avLst/>
          </a:prstGeom>
          <a:solidFill>
            <a:srgbClr val="F6F8FB"/>
          </a:solidFill>
          <a:ln w="25400">
            <a:solidFill>
              <a:srgbClr val="F6F8FB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CF6"/>
          </a:solidFill>
          <a:ln w="12700">
            <a:solidFill>
              <a:srgbClr val="2E7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3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Pattern 1: LEFT JOIN … IS NULL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0E1726"/>
          </a:solidFill>
          <a:ln w="12700">
            <a:solidFill>
              <a:srgbClr val="0E17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978408" y="1581912"/>
            <a:ext cx="4855464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B0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SELECT</a:t>
            </a: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r.*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B0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FROM</a:t>
            </a: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R 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4">
                    <a:lumMod val="50000"/>
                  </a:schemeClr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LEFT JOIN </a:t>
            </a: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 s </a:t>
            </a:r>
            <a:r>
              <a:rPr lang="en-US" sz="1400" dirty="0">
                <a:solidFill>
                  <a:srgbClr val="00B0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ON</a:t>
            </a: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s.key = r.key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B0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WHERE</a:t>
            </a: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s.key </a:t>
            </a:r>
            <a:r>
              <a:rPr lang="en-US" sz="1400" dirty="0">
                <a:solidFill>
                  <a:schemeClr val="accent4">
                    <a:lumMod val="50000"/>
                  </a:schemeClr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IS NULL</a:t>
            </a: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0" y="1463040"/>
            <a:ext cx="42976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23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works: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492240" y="2057400"/>
            <a:ext cx="492252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dirty="0">
                <a:solidFill>
                  <a:srgbClr val="1E1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LEFT JOIN keeps all rows from R.</a:t>
            </a:r>
            <a:endParaRPr lang="en-US" dirty="0"/>
          </a:p>
          <a:p>
            <a:r>
              <a:rPr lang="en-US" dirty="0">
                <a:solidFill>
                  <a:srgbClr val="1E1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Non-matching S rows are filled with NULL.</a:t>
            </a:r>
            <a:endParaRPr lang="en-US" dirty="0"/>
          </a:p>
          <a:p>
            <a:r>
              <a:rPr lang="en-US" dirty="0">
                <a:solidFill>
                  <a:srgbClr val="1E1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WHERE </a:t>
            </a:r>
            <a:r>
              <a:rPr lang="en-US" dirty="0" err="1">
                <a:solidFill>
                  <a:srgbClr val="1E1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s.key</a:t>
            </a:r>
            <a:r>
              <a:rPr lang="en-US" dirty="0">
                <a:solidFill>
                  <a:srgbClr val="1E1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IS NULL filters exactly these non-matches.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dirty="0">
                <a:solidFill>
                  <a:srgbClr val="9AA3B2"/>
                </a:solidFill>
              </a:rPr>
              <a:t>Anti-JOINs ·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CF6"/>
          </a:solidFill>
          <a:ln w="12700">
            <a:solidFill>
              <a:srgbClr val="2E7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3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Pattern 2: NOT EXISTS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5257800" cy="2697480"/>
          </a:xfrm>
          <a:prstGeom prst="roundRect">
            <a:avLst>
              <a:gd name="adj" fmla="val 2712"/>
            </a:avLst>
          </a:prstGeom>
          <a:solidFill>
            <a:srgbClr val="0E1726"/>
          </a:solidFill>
          <a:ln w="12700">
            <a:solidFill>
              <a:srgbClr val="0E17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978408" y="1581912"/>
            <a:ext cx="4855464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B0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SELECT</a:t>
            </a: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r.*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B0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FROM</a:t>
            </a: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R 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B0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WHERE</a:t>
            </a: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</a:t>
            </a:r>
            <a:r>
              <a:rPr lang="en-US" sz="1400" dirty="0">
                <a:solidFill>
                  <a:schemeClr val="accent4">
                    <a:lumMod val="50000"/>
                  </a:schemeClr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 EXISTS </a:t>
            </a: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</a:t>
            </a:r>
            <a:r>
              <a:rPr lang="en-US" sz="1400" dirty="0">
                <a:solidFill>
                  <a:srgbClr val="00B0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SELECT</a:t>
            </a: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</a:t>
            </a:r>
            <a:r>
              <a:rPr lang="en-US" sz="1400" dirty="0">
                <a:solidFill>
                  <a:srgbClr val="00B0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FROM</a:t>
            </a: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S 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</a:t>
            </a:r>
            <a:r>
              <a:rPr lang="en-US" sz="1400" dirty="0">
                <a:solidFill>
                  <a:srgbClr val="00B0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WHERE</a:t>
            </a: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s.key = r.key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);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0" y="1417320"/>
            <a:ext cx="42976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works: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492240" y="1965960"/>
            <a:ext cx="452628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342900" indent="-342900">
              <a:buAutoNum type="arabicPeriod"/>
            </a:pPr>
            <a:r>
              <a:rPr lang="en-US" dirty="0">
                <a:solidFill>
                  <a:srgbClr val="1E1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EXISTS checks whether a matching row exists in another table.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1E1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no match is found, the row is included in the result.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dirty="0">
                <a:solidFill>
                  <a:srgbClr val="9AA3B2"/>
                </a:solidFill>
              </a:rPr>
              <a:t>Anti-JOINs ·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E2FBB-85FC-025D-BBA3-65F00FD73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C7D9F182-278A-1836-6209-16FA23AB603E}"/>
              </a:ext>
            </a:extLst>
          </p:cNvPr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CF6"/>
          </a:solidFill>
          <a:ln w="12700">
            <a:solidFill>
              <a:srgbClr val="2E7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C8FB9FA-3BB7-CD5B-1362-9F472B7F58E1}"/>
              </a:ext>
            </a:extLst>
          </p:cNvPr>
          <p:cNvSpPr/>
          <p:nvPr/>
        </p:nvSpPr>
        <p:spPr>
          <a:xfrm>
            <a:off x="594360" y="6583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3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Pattern 3: NOT IN</a:t>
            </a:r>
            <a:endParaRPr lang="en-US" sz="3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5B3F6B9-E9F1-EADD-FDD6-713C12C76A3C}"/>
              </a:ext>
            </a:extLst>
          </p:cNvPr>
          <p:cNvSpPr/>
          <p:nvPr/>
        </p:nvSpPr>
        <p:spPr>
          <a:xfrm>
            <a:off x="777240" y="1417320"/>
            <a:ext cx="5257800" cy="2697480"/>
          </a:xfrm>
          <a:prstGeom prst="roundRect">
            <a:avLst>
              <a:gd name="adj" fmla="val 2712"/>
            </a:avLst>
          </a:prstGeom>
          <a:solidFill>
            <a:srgbClr val="0E1726"/>
          </a:solidFill>
          <a:ln w="12700">
            <a:solidFill>
              <a:srgbClr val="0E172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1E70B85-A7C2-2CC1-6BB4-221B3D7FB1B7}"/>
              </a:ext>
            </a:extLst>
          </p:cNvPr>
          <p:cNvSpPr/>
          <p:nvPr/>
        </p:nvSpPr>
        <p:spPr>
          <a:xfrm>
            <a:off x="978408" y="1581912"/>
            <a:ext cx="4855464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B0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SELECT</a:t>
            </a: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r.*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B0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FROM</a:t>
            </a: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R 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0B0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WHERE</a:t>
            </a: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</a:t>
            </a:r>
            <a:r>
              <a:rPr lang="en-US" sz="1400" dirty="0" err="1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r.key</a:t>
            </a: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</a:t>
            </a:r>
            <a:r>
              <a:rPr lang="en-US" sz="1400" dirty="0">
                <a:solidFill>
                  <a:schemeClr val="accent4">
                    <a:lumMod val="50000"/>
                  </a:schemeClr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 IN </a:t>
            </a: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(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</a:t>
            </a:r>
            <a:r>
              <a:rPr lang="en-US" sz="1400" dirty="0">
                <a:solidFill>
                  <a:srgbClr val="00B0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SELECT</a:t>
            </a: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</a:t>
            </a:r>
            <a:r>
              <a:rPr lang="en-US" sz="1400" dirty="0" err="1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s.key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 </a:t>
            </a:r>
            <a:r>
              <a:rPr lang="en-US" sz="1400" dirty="0">
                <a:solidFill>
                  <a:srgbClr val="00B0F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FROM</a:t>
            </a: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 S </a:t>
            </a:r>
            <a:r>
              <a:rPr lang="en-US" sz="1400" dirty="0" err="1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F0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);</a:t>
            </a:r>
            <a:endParaRPr lang="en-U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473CE5D-FBE9-7ADE-9848-0450CC834805}"/>
              </a:ext>
            </a:extLst>
          </p:cNvPr>
          <p:cNvSpPr/>
          <p:nvPr/>
        </p:nvSpPr>
        <p:spPr>
          <a:xfrm>
            <a:off x="6492240" y="1417320"/>
            <a:ext cx="429768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323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works:</a:t>
            </a:r>
            <a:endParaRPr lang="en-US" sz="2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69F54DA-0FDA-D91B-D57C-518F6E4E011A}"/>
              </a:ext>
            </a:extLst>
          </p:cNvPr>
          <p:cNvSpPr/>
          <p:nvPr/>
        </p:nvSpPr>
        <p:spPr>
          <a:xfrm>
            <a:off x="6492240" y="1965960"/>
            <a:ext cx="4526280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342900" indent="-342900">
              <a:buAutoNum type="arabicPeriod"/>
            </a:pPr>
            <a:r>
              <a:rPr lang="en-US" dirty="0"/>
              <a:t>NOT IN checks values against another result set.</a:t>
            </a:r>
          </a:p>
          <a:p>
            <a:pPr marL="342900" indent="-342900">
              <a:buAutoNum type="arabicPeriod"/>
            </a:pPr>
            <a:r>
              <a:rPr lang="en-US" dirty="0"/>
              <a:t>Rows with matching values are excluded.</a:t>
            </a: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9E98074-C220-10A9-E4BE-1184914F43E9}"/>
              </a:ext>
            </a:extLst>
          </p:cNvPr>
          <p:cNvSpPr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dirty="0">
                <a:solidFill>
                  <a:srgbClr val="9AA3B2"/>
                </a:solidFill>
              </a:rPr>
              <a:t>Anti-JOINs · 5</a:t>
            </a:r>
          </a:p>
        </p:txBody>
      </p:sp>
      <p:sp>
        <p:nvSpPr>
          <p:cNvPr id="2" name="Text 6">
            <a:extLst>
              <a:ext uri="{FF2B5EF4-FFF2-40B4-BE49-F238E27FC236}">
                <a16:creationId xmlns:a16="http://schemas.microsoft.com/office/drawing/2014/main" id="{2E09D1E5-AAE6-23A2-0EBC-81CC5F561789}"/>
              </a:ext>
            </a:extLst>
          </p:cNvPr>
          <p:cNvSpPr/>
          <p:nvPr/>
        </p:nvSpPr>
        <p:spPr>
          <a:xfrm>
            <a:off x="868680" y="7447788"/>
            <a:ext cx="475488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2000" b="1" dirty="0">
                <a:solidFill>
                  <a:srgbClr val="C92A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IN is short, but risky: if the subquery contains NULL, the result can unexpectedly become empty.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12723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CF6"/>
          </a:solidFill>
          <a:ln w="12700">
            <a:solidFill>
              <a:srgbClr val="2E7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000" b="1" dirty="0">
                <a:solidFill>
                  <a:srgbClr val="13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Caution: NOT IN and NULL values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dirty="0">
                <a:solidFill>
                  <a:srgbClr val="9AA3B2"/>
                </a:solidFill>
              </a:rPr>
              <a:t>Anti-JOINs · 6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628C82B4-C46D-933F-89CA-3139D2EA1BC8}"/>
              </a:ext>
            </a:extLst>
          </p:cNvPr>
          <p:cNvSpPr txBox="1"/>
          <p:nvPr/>
        </p:nvSpPr>
        <p:spPr>
          <a:xfrm>
            <a:off x="7319974" y="2284767"/>
            <a:ext cx="43205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NOT IN (2, 3, NULL) → </a:t>
            </a:r>
            <a:r>
              <a:rPr lang="en-US" dirty="0">
                <a:highlight>
                  <a:srgbClr val="FF0000"/>
                </a:highlight>
              </a:rPr>
              <a:t>UNKNOWN</a:t>
            </a:r>
            <a:br>
              <a:rPr lang="en-US" dirty="0"/>
            </a:br>
            <a:r>
              <a:rPr lang="en-US" dirty="0"/>
              <a:t>2 NOT IN (2, 3, NULL) → FALSE</a:t>
            </a:r>
            <a:br>
              <a:rPr lang="en-US" dirty="0"/>
            </a:br>
            <a:r>
              <a:rPr lang="en-US" dirty="0"/>
              <a:t>3 NOT IN (2, 3, NULL) → FALSE</a:t>
            </a:r>
            <a:br>
              <a:rPr lang="en-US" dirty="0"/>
            </a:br>
            <a:r>
              <a:rPr lang="en-US" dirty="0"/>
              <a:t>4 NOT IN (2, 3, NULL) → </a:t>
            </a:r>
            <a:r>
              <a:rPr lang="en-US" dirty="0">
                <a:highlight>
                  <a:srgbClr val="FF0000"/>
                </a:highlight>
              </a:rPr>
              <a:t>UNKNOWN</a:t>
            </a:r>
            <a:endParaRPr lang="de-CH" dirty="0">
              <a:highlight>
                <a:srgbClr val="FF0000"/>
              </a:highlight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424E198-0049-4E5D-F10C-7AFFCB33DF3C}"/>
              </a:ext>
            </a:extLst>
          </p:cNvPr>
          <p:cNvSpPr txBox="1"/>
          <p:nvPr/>
        </p:nvSpPr>
        <p:spPr>
          <a:xfrm>
            <a:off x="822960" y="1623060"/>
            <a:ext cx="1344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Table R</a:t>
            </a:r>
            <a:endParaRPr lang="de-CH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B15A88FF-09F0-6443-3BD4-69A8C4EA4715}"/>
              </a:ext>
            </a:extLst>
          </p:cNvPr>
          <p:cNvSpPr txBox="1"/>
          <p:nvPr/>
        </p:nvSpPr>
        <p:spPr>
          <a:xfrm>
            <a:off x="2511552" y="1620657"/>
            <a:ext cx="1344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Table S</a:t>
            </a:r>
            <a:endParaRPr lang="de-CH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F7216D0D-7895-2690-933A-4AD963F22718}"/>
              </a:ext>
            </a:extLst>
          </p:cNvPr>
          <p:cNvSpPr txBox="1"/>
          <p:nvPr/>
        </p:nvSpPr>
        <p:spPr>
          <a:xfrm>
            <a:off x="5081016" y="1599200"/>
            <a:ext cx="1344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Result</a:t>
            </a:r>
            <a:endParaRPr lang="de-CH" dirty="0"/>
          </a:p>
        </p:txBody>
      </p:sp>
      <p:graphicFrame>
        <p:nvGraphicFramePr>
          <p:cNvPr id="16" name="Tabelle 15">
            <a:extLst>
              <a:ext uri="{FF2B5EF4-FFF2-40B4-BE49-F238E27FC236}">
                <a16:creationId xmlns:a16="http://schemas.microsoft.com/office/drawing/2014/main" id="{941807A4-EC8A-05CE-7CBC-B74E7F82AD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411920"/>
              </p:ext>
            </p:extLst>
          </p:nvPr>
        </p:nvGraphicFramePr>
        <p:xfrm>
          <a:off x="710692" y="2410290"/>
          <a:ext cx="1278128" cy="18542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278128">
                  <a:extLst>
                    <a:ext uri="{9D8B030D-6E8A-4147-A177-3AD203B41FA5}">
                      <a16:colId xmlns:a16="http://schemas.microsoft.com/office/drawing/2014/main" val="8217197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key</a:t>
                      </a:r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46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</a:t>
                      </a:r>
                      <a:endParaRPr lang="de-CH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4483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2</a:t>
                      </a:r>
                      <a:endParaRPr lang="de-CH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691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3</a:t>
                      </a:r>
                      <a:endParaRPr lang="de-CH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6609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4</a:t>
                      </a:r>
                      <a:endParaRPr lang="de-CH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6095218"/>
                  </a:ext>
                </a:extLst>
              </a:tr>
            </a:tbl>
          </a:graphicData>
        </a:graphic>
      </p:graphicFrame>
      <p:graphicFrame>
        <p:nvGraphicFramePr>
          <p:cNvPr id="18" name="Tabelle 17">
            <a:extLst>
              <a:ext uri="{FF2B5EF4-FFF2-40B4-BE49-F238E27FC236}">
                <a16:creationId xmlns:a16="http://schemas.microsoft.com/office/drawing/2014/main" id="{24F88BB1-0FEA-1F31-ADB3-7C55EF6089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289605"/>
              </p:ext>
            </p:extLst>
          </p:nvPr>
        </p:nvGraphicFramePr>
        <p:xfrm>
          <a:off x="2315464" y="2410290"/>
          <a:ext cx="1278128" cy="147828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278128">
                  <a:extLst>
                    <a:ext uri="{9D8B030D-6E8A-4147-A177-3AD203B41FA5}">
                      <a16:colId xmlns:a16="http://schemas.microsoft.com/office/drawing/2014/main" val="35346876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key</a:t>
                      </a:r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4225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2</a:t>
                      </a:r>
                      <a:endParaRPr lang="de-CH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13711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de-CH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068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>
                          <a:solidFill>
                            <a:srgbClr val="FF0000"/>
                          </a:solidFill>
                        </a:rPr>
                        <a:t>NULL</a:t>
                      </a:r>
                      <a:endParaRPr lang="de-CH" sz="16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575467"/>
                  </a:ext>
                </a:extLst>
              </a:tr>
            </a:tbl>
          </a:graphicData>
        </a:graphic>
      </p:graphicFrame>
      <p:graphicFrame>
        <p:nvGraphicFramePr>
          <p:cNvPr id="22" name="Tabelle 21">
            <a:extLst>
              <a:ext uri="{FF2B5EF4-FFF2-40B4-BE49-F238E27FC236}">
                <a16:creationId xmlns:a16="http://schemas.microsoft.com/office/drawing/2014/main" id="{C5BF9322-49CD-6BA1-FE72-8062A697AB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112025"/>
              </p:ext>
            </p:extLst>
          </p:nvPr>
        </p:nvGraphicFramePr>
        <p:xfrm>
          <a:off x="4817719" y="2410290"/>
          <a:ext cx="1278128" cy="1873622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278128">
                  <a:extLst>
                    <a:ext uri="{9D8B030D-6E8A-4147-A177-3AD203B41FA5}">
                      <a16:colId xmlns:a16="http://schemas.microsoft.com/office/drawing/2014/main" val="3007901873"/>
                    </a:ext>
                  </a:extLst>
                </a:gridCol>
              </a:tblGrid>
              <a:tr h="346336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key</a:t>
                      </a:r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690904"/>
                  </a:ext>
                </a:extLst>
              </a:tr>
              <a:tr h="1507862"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  <a:p>
                      <a:pPr algn="ctr"/>
                      <a:endParaRPr lang="de-CH" sz="1600" i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  <a:p>
                      <a:pPr algn="ctr"/>
                      <a:r>
                        <a:rPr lang="de-CH" sz="1600" i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(</a:t>
                      </a:r>
                      <a:r>
                        <a:rPr lang="de-CH" sz="1600" i="1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</a:t>
                      </a:r>
                      <a:r>
                        <a:rPr lang="de-CH" sz="1600" i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 </a:t>
                      </a:r>
                      <a:r>
                        <a:rPr lang="de-CH" sz="1600" i="1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rows</a:t>
                      </a:r>
                      <a:r>
                        <a:rPr lang="de-CH" sz="1600" i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)</a:t>
                      </a:r>
                      <a:endParaRPr lang="de-CH" i="1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6146350"/>
                  </a:ext>
                </a:extLst>
              </a:tr>
            </a:tbl>
          </a:graphicData>
        </a:graphic>
      </p:graphicFrame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8C513271-443C-7D69-C09D-456CA27A289C}"/>
              </a:ext>
            </a:extLst>
          </p:cNvPr>
          <p:cNvCxnSpPr/>
          <p:nvPr/>
        </p:nvCxnSpPr>
        <p:spPr>
          <a:xfrm>
            <a:off x="3813048" y="3182112"/>
            <a:ext cx="768096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A72D6E-2C6C-6C51-A3B5-F3B2C8DBE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CD14A01D-BF7B-AC5F-371D-CE8B8372BEA0}"/>
              </a:ext>
            </a:extLst>
          </p:cNvPr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CF6"/>
          </a:solidFill>
          <a:ln w="12700">
            <a:solidFill>
              <a:srgbClr val="2E7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72E2E22-6252-A249-F95C-00B7D3994A77}"/>
              </a:ext>
            </a:extLst>
          </p:cNvPr>
          <p:cNvSpPr/>
          <p:nvPr/>
        </p:nvSpPr>
        <p:spPr>
          <a:xfrm>
            <a:off x="594360" y="6583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000" b="1" dirty="0">
                <a:solidFill>
                  <a:srgbClr val="1323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</a:t>
            </a:r>
            <a:endParaRPr lang="en-US" sz="30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87FECC4-F96E-2669-FCED-625D33D0F2BE}"/>
              </a:ext>
            </a:extLst>
          </p:cNvPr>
          <p:cNvSpPr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dirty="0">
                <a:solidFill>
                  <a:srgbClr val="9AA3B2"/>
                </a:solidFill>
              </a:rPr>
              <a:t>Anti-JOINs · 6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358AA7C-D920-BB42-5801-6B2029287886}"/>
              </a:ext>
            </a:extLst>
          </p:cNvPr>
          <p:cNvSpPr txBox="1"/>
          <p:nvPr/>
        </p:nvSpPr>
        <p:spPr>
          <a:xfrm>
            <a:off x="562356" y="5865876"/>
            <a:ext cx="7379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>
                <a:hlinkClick r:id="rId3"/>
              </a:rPr>
              <a:t>DB </a:t>
            </a:r>
            <a:r>
              <a:rPr lang="de-CH" dirty="0" err="1">
                <a:hlinkClick r:id="rId3"/>
              </a:rPr>
              <a:t>fiddle</a:t>
            </a:r>
            <a:endParaRPr lang="de-CH" dirty="0"/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20D1A8D2-2EB2-4E15-62B5-009B9960EA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911880"/>
              </p:ext>
            </p:extLst>
          </p:nvPr>
        </p:nvGraphicFramePr>
        <p:xfrm>
          <a:off x="562356" y="3137154"/>
          <a:ext cx="3934461" cy="18542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311487">
                  <a:extLst>
                    <a:ext uri="{9D8B030D-6E8A-4147-A177-3AD203B41FA5}">
                      <a16:colId xmlns:a16="http://schemas.microsoft.com/office/drawing/2014/main" val="3183310655"/>
                    </a:ext>
                  </a:extLst>
                </a:gridCol>
                <a:gridCol w="1311487">
                  <a:extLst>
                    <a:ext uri="{9D8B030D-6E8A-4147-A177-3AD203B41FA5}">
                      <a16:colId xmlns:a16="http://schemas.microsoft.com/office/drawing/2014/main" val="3788759057"/>
                    </a:ext>
                  </a:extLst>
                </a:gridCol>
                <a:gridCol w="1311487">
                  <a:extLst>
                    <a:ext uri="{9D8B030D-6E8A-4147-A177-3AD203B41FA5}">
                      <a16:colId xmlns:a16="http://schemas.microsoft.com/office/drawing/2014/main" val="16253491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400" dirty="0" err="1"/>
                        <a:t>check_in_id</a:t>
                      </a:r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 err="1"/>
                        <a:t>passenger_id</a:t>
                      </a:r>
                      <a:endParaRPr lang="de-CH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400" dirty="0" err="1"/>
                        <a:t>seat_number</a:t>
                      </a:r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3789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400"/>
                        <a:t>1</a:t>
                      </a:r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/>
                        <a:t>1</a:t>
                      </a:r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12A</a:t>
                      </a:r>
                      <a:endParaRPr lang="de-CH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34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2</a:t>
                      </a:r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5</a:t>
                      </a:r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7B</a:t>
                      </a:r>
                      <a:endParaRPr lang="de-CH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1257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3</a:t>
                      </a:r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4</a:t>
                      </a:r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14C</a:t>
                      </a:r>
                      <a:endParaRPr lang="de-CH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859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…</a:t>
                      </a:r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…</a:t>
                      </a:r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…</a:t>
                      </a:r>
                      <a:endParaRPr lang="de-CH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8501270"/>
                  </a:ext>
                </a:extLst>
              </a:tr>
            </a:tbl>
          </a:graphicData>
        </a:graphic>
      </p:graphicFrame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1EB266A7-1E92-8D3D-C0C9-F0F838AB4F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942898"/>
              </p:ext>
            </p:extLst>
          </p:nvPr>
        </p:nvGraphicFramePr>
        <p:xfrm>
          <a:off x="6039104" y="3137154"/>
          <a:ext cx="3804920" cy="252984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902460">
                  <a:extLst>
                    <a:ext uri="{9D8B030D-6E8A-4147-A177-3AD203B41FA5}">
                      <a16:colId xmlns:a16="http://schemas.microsoft.com/office/drawing/2014/main" val="1733570274"/>
                    </a:ext>
                  </a:extLst>
                </a:gridCol>
                <a:gridCol w="1902460">
                  <a:extLst>
                    <a:ext uri="{9D8B030D-6E8A-4147-A177-3AD203B41FA5}">
                      <a16:colId xmlns:a16="http://schemas.microsoft.com/office/drawing/2014/main" val="5100394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err="1"/>
                        <a:t>seat_number</a:t>
                      </a:r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err="1"/>
                        <a:t>position</a:t>
                      </a:r>
                      <a:endParaRPr lang="de-CH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6005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12A</a:t>
                      </a:r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err="1"/>
                        <a:t>window</a:t>
                      </a:r>
                      <a:endParaRPr lang="de-CH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244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12B</a:t>
                      </a:r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err="1"/>
                        <a:t>middle</a:t>
                      </a:r>
                      <a:endParaRPr lang="de-CH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7028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7A</a:t>
                      </a:r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err="1"/>
                        <a:t>aisle</a:t>
                      </a:r>
                      <a:endParaRPr lang="de-CH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7427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9A</a:t>
                      </a:r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err="1"/>
                        <a:t>middle</a:t>
                      </a:r>
                      <a:endParaRPr lang="de-CH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6339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7B</a:t>
                      </a:r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 err="1"/>
                        <a:t>middle</a:t>
                      </a:r>
                      <a:endParaRPr lang="de-CH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1853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…</a:t>
                      </a:r>
                      <a:endParaRPr lang="de-CH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400" dirty="0"/>
                        <a:t>…</a:t>
                      </a:r>
                      <a:endParaRPr lang="de-CH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6861415"/>
                  </a:ext>
                </a:extLst>
              </a:tr>
            </a:tbl>
          </a:graphicData>
        </a:graphic>
      </p:graphicFrame>
      <p:sp>
        <p:nvSpPr>
          <p:cNvPr id="8" name="Textfeld 7">
            <a:extLst>
              <a:ext uri="{FF2B5EF4-FFF2-40B4-BE49-F238E27FC236}">
                <a16:creationId xmlns:a16="http://schemas.microsoft.com/office/drawing/2014/main" id="{A03FC08C-5465-96AB-0907-6F3BE625057B}"/>
              </a:ext>
            </a:extLst>
          </p:cNvPr>
          <p:cNvSpPr txBox="1"/>
          <p:nvPr/>
        </p:nvSpPr>
        <p:spPr>
          <a:xfrm>
            <a:off x="562356" y="2624328"/>
            <a:ext cx="20208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600" dirty="0"/>
              <a:t>TABLE </a:t>
            </a:r>
            <a:r>
              <a:rPr lang="de-CH" sz="1600" dirty="0" err="1"/>
              <a:t>check_ins</a:t>
            </a:r>
            <a:r>
              <a:rPr lang="de-CH" sz="1600" dirty="0"/>
              <a:t>:</a:t>
            </a:r>
            <a:endParaRPr lang="de-CH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710B318-2CAB-532B-3EA7-B0887FCA6C23}"/>
              </a:ext>
            </a:extLst>
          </p:cNvPr>
          <p:cNvSpPr txBox="1"/>
          <p:nvPr/>
        </p:nvSpPr>
        <p:spPr>
          <a:xfrm>
            <a:off x="6039104" y="2624328"/>
            <a:ext cx="20208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600" dirty="0"/>
              <a:t>TABLE </a:t>
            </a:r>
            <a:r>
              <a:rPr lang="de-CH" sz="1600" dirty="0" err="1"/>
              <a:t>seats</a:t>
            </a:r>
            <a:r>
              <a:rPr lang="de-CH" sz="1600" dirty="0"/>
              <a:t>:</a:t>
            </a:r>
            <a:endParaRPr lang="de-CH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E13708EC-5EC1-CE5F-0E14-3F8C54552DDD}"/>
              </a:ext>
            </a:extLst>
          </p:cNvPr>
          <p:cNvSpPr txBox="1"/>
          <p:nvPr/>
        </p:nvSpPr>
        <p:spPr>
          <a:xfrm>
            <a:off x="562356" y="1568196"/>
            <a:ext cx="7626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We</a:t>
            </a:r>
            <a:r>
              <a:rPr lang="de-DE" dirty="0"/>
              <a:t> lost </a:t>
            </a:r>
            <a:r>
              <a:rPr lang="de-DE" dirty="0" err="1"/>
              <a:t>our</a:t>
            </a:r>
            <a:r>
              <a:rPr lang="de-DE" dirty="0"/>
              <a:t> ticket! Which </a:t>
            </a:r>
            <a:r>
              <a:rPr lang="de-DE" dirty="0" err="1"/>
              <a:t>seat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unoccupied</a:t>
            </a:r>
            <a:r>
              <a:rPr lang="de-DE" dirty="0"/>
              <a:t> and </a:t>
            </a:r>
            <a:r>
              <a:rPr lang="de-DE" dirty="0" err="1"/>
              <a:t>next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window</a:t>
            </a:r>
            <a:r>
              <a:rPr lang="de-DE" dirty="0"/>
              <a:t>?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927801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CF6"/>
          </a:solidFill>
          <a:ln w="12700">
            <a:solidFill>
              <a:srgbClr val="2E7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4251960" y="6080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7CF6"/>
                </a:solidFill>
              </a:rPr>
              <a:t>Thank you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00" dirty="0">
                <a:solidFill>
                  <a:srgbClr val="9AA3B2"/>
                </a:solidFill>
              </a:rPr>
              <a:t>Anti-JOINs · 7</a:t>
            </a:r>
          </a:p>
        </p:txBody>
      </p:sp>
      <p:pic>
        <p:nvPicPr>
          <p:cNvPr id="18" name="Grafik 17" descr="Ein Bild, das Text, Screenshot, Schrift, Logo enthält.&#10;&#10;KI-generierte Inhalte können fehlerhaft sein.">
            <a:extLst>
              <a:ext uri="{FF2B5EF4-FFF2-40B4-BE49-F238E27FC236}">
                <a16:creationId xmlns:a16="http://schemas.microsoft.com/office/drawing/2014/main" id="{3F122BC5-FDAA-42B2-9F71-0DD365287C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569" t="9600" r="26029" b="13580"/>
          <a:stretch>
            <a:fillRect/>
          </a:stretch>
        </p:blipFill>
        <p:spPr>
          <a:xfrm>
            <a:off x="2997199" y="658368"/>
            <a:ext cx="6019801" cy="52682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TM04033923[[fn=Tiefe]]</Template>
  <TotalTime>184</TotalTime>
  <Words>875</Words>
  <Application>Microsoft Office PowerPoint</Application>
  <PresentationFormat>Widescreen</PresentationFormat>
  <Paragraphs>168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Group T5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Island Evolved</dc:title>
  <dc:subject>SQL Island Evolved: Anti-JOINs through Play</dc:subject>
  <dc:creator>OpenAI</dc:creator>
  <cp:lastModifiedBy>Willi Leandra (willile1)</cp:lastModifiedBy>
  <cp:revision>25</cp:revision>
  <dcterms:created xsi:type="dcterms:W3CDTF">2026-05-19T11:12:57Z</dcterms:created>
  <dcterms:modified xsi:type="dcterms:W3CDTF">2026-05-27T09:55:40Z</dcterms:modified>
</cp:coreProperties>
</file>